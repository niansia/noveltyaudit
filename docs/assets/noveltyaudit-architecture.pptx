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c97c2e4cdb446a" /><Relationship Type="http://schemas.openxmlformats.org/officeDocument/2006/relationships/extended-properties" Target="/docProps/app.xml" Id="R87784b9d47974734" /><Relationship Type="http://schemas.openxmlformats.org/officeDocument/2006/relationships/officeDocument" Target="/ppt/presentation.xml" Id="Rbd931ac474a74b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f50440b21b4fe0"/>
  </p:sldMasterIdLst>
  <p:notesMasterIdLst>
    <p:notesMasterId xmlns:r="http://schemas.openxmlformats.org/officeDocument/2006/relationships" r:id="R6313ac56e1574199"/>
  </p:notesMasterIdLst>
  <p:sldIdLst>
    <p:sldId xmlns:r="http://schemas.openxmlformats.org/officeDocument/2006/relationships" id="256" r:id="R3896f394c37a49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6b8ced2ba64e93" /><Relationship Type="http://schemas.openxmlformats.org/officeDocument/2006/relationships/slideMaster" Target="/ppt/slideMasters/slideMaster1.xml" Id="R80f50440b21b4fe0" /><Relationship Type="http://schemas.openxmlformats.org/officeDocument/2006/relationships/notesMaster" Target="/ppt/notesMasters/notesMaster1.xml" Id="R6313ac56e1574199" /><Relationship Type="http://schemas.openxmlformats.org/officeDocument/2006/relationships/presProps" Target="/ppt/presProps.xml" Id="Rf5403bb2e36c47d4" /><Relationship Type="http://schemas.openxmlformats.org/officeDocument/2006/relationships/tableStyles" Target="/ppt/tableStyles.xml" Id="R7657a5feef194970" /><Relationship Type="http://schemas.openxmlformats.org/officeDocument/2006/relationships/slide" Target="/ppt/slides/slide1.xml" Id="R3896f394c37a49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e1985846064b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28679ec9d840ab" /><Relationship Type="http://schemas.openxmlformats.org/officeDocument/2006/relationships/notesMaster" Target="/ppt/notesMasters/notesMaster1.xml" Id="Rdf5cbcdf1d924c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https://github.com/niansia/NoveltyAudit — v0.3.1 repository architecture and evidence contract; diagram prepared from the local release candidate on 2026-08-28.</a:t>
            </a:r>
          </a:p>
          <a:p xmlns:a="http://schemas.openxmlformats.org/drawingml/2006/main">
            <a:r>
              <a:t>- https://agentskills.io/specification — Agent Skills packaging context; accessed 2026-08-28.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ebc7ea9bd944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373068b3174540" /><Relationship Type="http://schemas.openxmlformats.org/officeDocument/2006/relationships/slideLayout" Target="/ppt/slideLayouts/slideLayout1.xml" Id="Rfa72c15b5bf744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72c15b5bf744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e2989b18e4d83" /><Relationship Type="http://schemas.openxmlformats.org/officeDocument/2006/relationships/notesSlide" Target="/ppt/notesSlides/notesSlide1.xml" Id="R41cc18e748df42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" name="eyebrow">
            <a:extLst xmlns:a="http://schemas.openxmlformats.org/drawingml/2006/main">
              <a:ext uri="{FF2B5EF4-FFF2-40B4-BE49-F238E27FC236}">
                <a16:creationId xmlns:a16="http://schemas.microsoft.com/office/drawing/2014/main" id="{EEEDD9D1-9644-471C-BC07-E77C2E54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D46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46D8"/>
                </a:solidFill>
                <a:latin typeface="Arial"/>
                <a:ea typeface="Arial"/>
                <a:cs typeface="Arial"/>
              </a:rPr>
              <a:t>NOVELTYAUDIT / SYSTEM ARCHITECTURE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A634AB9-B42D-4DE0-AD11-012EB6C0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Evidence pipeline + citation-graph prosecution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31819BA-4730-498A-BF7A-7C89F192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525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C6370"/>
                </a:solidFill>
                <a:latin typeface="Arial"/>
                <a:ea typeface="Arial"/>
                <a:cs typeface="Arial"/>
              </a:rPr>
              <a:t>Facet coverage and historical connection travel on separate paths, then meet at a deterministic gate.</a:t>
            </a:r>
          </a:p>
        </p:txBody>
      </p:sp>
      <p:sp>
        <p:nvSpPr>
          <p:cNvPr id="4" name="main-arrow-158">
            <a:extLst xmlns:a="http://schemas.openxmlformats.org/drawingml/2006/main">
              <a:ext uri="{FF2B5EF4-FFF2-40B4-BE49-F238E27FC236}">
                <a16:creationId xmlns:a16="http://schemas.microsoft.com/office/drawing/2014/main" id="{E7ACADB5-0EEA-4CCD-AC62-F3B09F2E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1465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171B"/>
          </a:solidFill>
          <a:ln xmlns:a="http://schemas.openxmlformats.org/drawingml/2006/main" w="0">
            <a:solidFill>
              <a:srgbClr val="15171B"/>
            </a:solidFill>
            <a:prstDash val="solid"/>
          </a:ln>
        </p:spPr>
      </p:sp>
      <p:sp>
        <p:nvSpPr>
          <p:cNvPr id="5" name="main-arrow-323">
            <a:extLst xmlns:a="http://schemas.openxmlformats.org/drawingml/2006/main">
              <a:ext uri="{FF2B5EF4-FFF2-40B4-BE49-F238E27FC236}">
                <a16:creationId xmlns:a16="http://schemas.microsoft.com/office/drawing/2014/main" id="{106060E8-7E50-4A0C-82A4-14DC75F4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91465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171B"/>
          </a:solidFill>
          <a:ln xmlns:a="http://schemas.openxmlformats.org/drawingml/2006/main" w="0">
            <a:solidFill>
              <a:srgbClr val="15171B"/>
            </a:solidFill>
            <a:prstDash val="solid"/>
          </a:ln>
        </p:spPr>
      </p:sp>
      <p:sp>
        <p:nvSpPr>
          <p:cNvPr id="6" name="main-arrow-503">
            <a:extLst xmlns:a="http://schemas.openxmlformats.org/drawingml/2006/main">
              <a:ext uri="{FF2B5EF4-FFF2-40B4-BE49-F238E27FC236}">
                <a16:creationId xmlns:a16="http://schemas.microsoft.com/office/drawing/2014/main" id="{A723A55D-EAD6-452B-9B96-6BB39A8D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91465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171B"/>
          </a:solidFill>
          <a:ln xmlns:a="http://schemas.openxmlformats.org/drawingml/2006/main" w="0">
            <a:solidFill>
              <a:srgbClr val="15171B"/>
            </a:solidFill>
            <a:prstDash val="solid"/>
          </a:ln>
        </p:spPr>
      </p:sp>
      <p:sp>
        <p:nvSpPr>
          <p:cNvPr id="7" name="main-arrow-688">
            <a:extLst xmlns:a="http://schemas.openxmlformats.org/drawingml/2006/main">
              <a:ext uri="{FF2B5EF4-FFF2-40B4-BE49-F238E27FC236}">
                <a16:creationId xmlns:a16="http://schemas.microsoft.com/office/drawing/2014/main" id="{458C142C-2F4E-4EBC-978F-2E8AD3DF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1465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171B"/>
          </a:solidFill>
          <a:ln xmlns:a="http://schemas.openxmlformats.org/drawingml/2006/main" w="0">
            <a:solidFill>
              <a:srgbClr val="15171B"/>
            </a:solidFill>
            <a:prstDash val="solid"/>
          </a:ln>
        </p:spPr>
      </p:sp>
      <p:sp>
        <p:nvSpPr>
          <p:cNvPr id="8" name="main-arrow-893">
            <a:extLst xmlns:a="http://schemas.openxmlformats.org/drawingml/2006/main">
              <a:ext uri="{FF2B5EF4-FFF2-40B4-BE49-F238E27FC236}">
                <a16:creationId xmlns:a16="http://schemas.microsoft.com/office/drawing/2014/main" id="{9DE98CC1-21AB-4158-8182-D07E17DE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91465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171B"/>
          </a:solidFill>
          <a:ln xmlns:a="http://schemas.openxmlformats.org/drawingml/2006/main" w="0">
            <a:solidFill>
              <a:srgbClr val="15171B"/>
            </a:solidFill>
            <a:prstDash val="solid"/>
          </a:ln>
        </p:spPr>
      </p:sp>
      <p:sp>
        <p:nvSpPr>
          <p:cNvPr id="9" name="main-arrow-1078">
            <a:extLst xmlns:a="http://schemas.openxmlformats.org/drawingml/2006/main">
              <a:ext uri="{FF2B5EF4-FFF2-40B4-BE49-F238E27FC236}">
                <a16:creationId xmlns:a16="http://schemas.microsoft.com/office/drawing/2014/main" id="{B08D8855-3185-448D-9FA5-0B8A70CE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91465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171B"/>
          </a:solidFill>
          <a:ln xmlns:a="http://schemas.openxmlformats.org/drawingml/2006/main" w="0">
            <a:solidFill>
              <a:srgbClr val="15171B"/>
            </a:solidFill>
            <a:prstDash val="solid"/>
          </a:ln>
        </p:spPr>
      </p:sp>
      <p:sp>
        <p:nvSpPr>
          <p:cNvPr id="10" name="mps-to-graph">
            <a:extLst xmlns:a="http://schemas.openxmlformats.org/drawingml/2006/main">
              <a:ext uri="{FF2B5EF4-FFF2-40B4-BE49-F238E27FC236}">
                <a16:creationId xmlns:a16="http://schemas.microsoft.com/office/drawing/2014/main" id="{A5AC93D1-E16C-42CF-8DFF-4FF92AD4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1943100"/>
            <a:ext cx="228600" cy="6667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aph-to-bridge">
            <a:extLst xmlns:a="http://schemas.openxmlformats.org/drawingml/2006/main">
              <a:ext uri="{FF2B5EF4-FFF2-40B4-BE49-F238E27FC236}">
                <a16:creationId xmlns:a16="http://schemas.microsoft.com/office/drawing/2014/main" id="{0ACC0321-6CFA-461E-8088-93E3760E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485900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171B"/>
          </a:solidFill>
          <a:ln xmlns:a="http://schemas.openxmlformats.org/drawingml/2006/main" w="0">
            <a:solidFill>
              <a:srgbClr val="15171B"/>
            </a:solidFill>
            <a:prstDash val="solid"/>
          </a:ln>
        </p:spPr>
      </p:sp>
      <p:sp>
        <p:nvSpPr>
          <p:cNvPr id="12" name="bridge-to-gate">
            <a:extLst xmlns:a="http://schemas.openxmlformats.org/drawingml/2006/main">
              <a:ext uri="{FF2B5EF4-FFF2-40B4-BE49-F238E27FC236}">
                <a16:creationId xmlns:a16="http://schemas.microsoft.com/office/drawing/2014/main" id="{90762429-4FEE-4E03-8AC1-3CD3D5CB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943100"/>
            <a:ext cx="228600" cy="666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3" name="providers-to-retrieve">
            <a:extLst xmlns:a="http://schemas.openxmlformats.org/drawingml/2006/main">
              <a:ext uri="{FF2B5EF4-FFF2-40B4-BE49-F238E27FC236}">
                <a16:creationId xmlns:a16="http://schemas.microsoft.com/office/drawing/2014/main" id="{0CF5E18A-C5DA-41EB-9A8C-3BEF6E3E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38550"/>
            <a:ext cx="228600" cy="6096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fulltext-to-evidence">
            <a:extLst xmlns:a="http://schemas.openxmlformats.org/drawingml/2006/main">
              <a:ext uri="{FF2B5EF4-FFF2-40B4-BE49-F238E27FC236}">
                <a16:creationId xmlns:a16="http://schemas.microsoft.com/office/drawing/2014/main" id="{09262310-F8AB-4558-A9A9-1D58B536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638550"/>
            <a:ext cx="228600" cy="6096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runtime-to-gate">
            <a:extLst xmlns:a="http://schemas.openxmlformats.org/drawingml/2006/main">
              <a:ext uri="{FF2B5EF4-FFF2-40B4-BE49-F238E27FC236}">
                <a16:creationId xmlns:a16="http://schemas.microsoft.com/office/drawing/2014/main" id="{F3ED6D44-6EEE-4789-B681-1B742251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38550"/>
            <a:ext cx="228600" cy="6096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6" name="provider-bus">
            <a:extLst xmlns:a="http://schemas.openxmlformats.org/drawingml/2006/main">
              <a:ext uri="{FF2B5EF4-FFF2-40B4-BE49-F238E27FC236}">
                <a16:creationId xmlns:a16="http://schemas.microsoft.com/office/drawing/2014/main" id="{82897C47-C1F2-4170-85A2-27595AC5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171950"/>
            <a:ext cx="2905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provider-drop-217">
            <a:extLst xmlns:a="http://schemas.openxmlformats.org/drawingml/2006/main">
              <a:ext uri="{FF2B5EF4-FFF2-40B4-BE49-F238E27FC236}">
                <a16:creationId xmlns:a16="http://schemas.microsoft.com/office/drawing/2014/main" id="{5C035784-C350-4CD8-8E6C-8D6A65AA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171950"/>
            <a:ext cx="28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provider-drop-297">
            <a:extLst xmlns:a="http://schemas.openxmlformats.org/drawingml/2006/main">
              <a:ext uri="{FF2B5EF4-FFF2-40B4-BE49-F238E27FC236}">
                <a16:creationId xmlns:a16="http://schemas.microsoft.com/office/drawing/2014/main" id="{B982088F-467F-4EB8-A4E8-81B246E0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171950"/>
            <a:ext cx="28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provider-drop-377">
            <a:extLst xmlns:a="http://schemas.openxmlformats.org/drawingml/2006/main">
              <a:ext uri="{FF2B5EF4-FFF2-40B4-BE49-F238E27FC236}">
                <a16:creationId xmlns:a16="http://schemas.microsoft.com/office/drawing/2014/main" id="{78E9875E-2A5D-490D-88E1-315E950E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171950"/>
            <a:ext cx="28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0" name="provider-drop-457">
            <a:extLst xmlns:a="http://schemas.openxmlformats.org/drawingml/2006/main">
              <a:ext uri="{FF2B5EF4-FFF2-40B4-BE49-F238E27FC236}">
                <a16:creationId xmlns:a16="http://schemas.microsoft.com/office/drawing/2014/main" id="{07003B61-46A9-49C1-9AF3-CD839F86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171950"/>
            <a:ext cx="28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1" name="graph-lane">
            <a:extLst xmlns:a="http://schemas.openxmlformats.org/drawingml/2006/main">
              <a:ext uri="{FF2B5EF4-FFF2-40B4-BE49-F238E27FC236}">
                <a16:creationId xmlns:a16="http://schemas.microsoft.com/office/drawing/2014/main" id="{F7898BD2-7985-4E36-804F-A4C08734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257300"/>
            <a:ext cx="20955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19050">
            <a:solidFill>
              <a:srgbClr val="3D8DFF"/>
            </a:solidFill>
            <a:prstDash val="dash"/>
          </a:ln>
        </p:spPr>
      </p:sp>
      <p:sp>
        <p:nvSpPr>
          <p:cNvPr id="22" name="edge-a-c">
            <a:extLst xmlns:a="http://schemas.openxmlformats.org/drawingml/2006/main">
              <a:ext uri="{FF2B5EF4-FFF2-40B4-BE49-F238E27FC236}">
                <a16:creationId xmlns:a16="http://schemas.microsoft.com/office/drawing/2014/main" id="{8B52CDB6-0C25-4B3B-879C-8F24711B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524000"/>
            <a:ext cx="51435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171B"/>
            </a:solidFill>
            <a:prstDash val="solid"/>
          </a:ln>
        </p:spPr>
      </p:sp>
      <p:sp>
        <p:nvSpPr>
          <p:cNvPr id="23" name="edge-b-c">
            <a:extLst xmlns:a="http://schemas.openxmlformats.org/drawingml/2006/main">
              <a:ext uri="{FF2B5EF4-FFF2-40B4-BE49-F238E27FC236}">
                <a16:creationId xmlns:a16="http://schemas.microsoft.com/office/drawing/2014/main" id="{A5EBEBFE-CC7E-4986-AD75-B52842F4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24000"/>
            <a:ext cx="51435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171B"/>
            </a:solidFill>
            <a:prstDash val="solid"/>
          </a:ln>
        </p:spPr>
      </p:sp>
      <p:sp>
        <p:nvSpPr>
          <p:cNvPr id="24" name="graph-paper-A">
            <a:extLst xmlns:a="http://schemas.openxmlformats.org/drawingml/2006/main">
              <a:ext uri="{FF2B5EF4-FFF2-40B4-BE49-F238E27FC236}">
                <a16:creationId xmlns:a16="http://schemas.microsoft.com/office/drawing/2014/main" id="{C5C2DECA-5F1F-4CB8-BF11-C3916690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42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6D8"/>
          </a:solidFill>
          <a:ln xmlns:a="http://schemas.openxmlformats.org/drawingml/2006/main" w="0">
            <a:solidFill>
              <a:srgbClr val="6D46D8"/>
            </a:solidFill>
            <a:prstDash val="solid"/>
          </a:ln>
        </p:spPr>
      </p:sp>
      <p:sp>
        <p:nvSpPr>
          <p:cNvPr id="25" name="graph-paper-A-label">
            <a:extLst xmlns:a="http://schemas.openxmlformats.org/drawingml/2006/main">
              <a:ext uri="{FF2B5EF4-FFF2-40B4-BE49-F238E27FC236}">
                <a16:creationId xmlns:a16="http://schemas.microsoft.com/office/drawing/2014/main" id="{F2A461A9-7260-450D-8FCD-8B4703D8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4573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6" name="graph-paper-C">
            <a:extLst xmlns:a="http://schemas.openxmlformats.org/drawingml/2006/main">
              <a:ext uri="{FF2B5EF4-FFF2-40B4-BE49-F238E27FC236}">
                <a16:creationId xmlns:a16="http://schemas.microsoft.com/office/drawing/2014/main" id="{D94D6EA4-2494-4A3C-8E9A-0591ACC8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562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26"/>
          </a:solidFill>
          <a:ln xmlns:a="http://schemas.openxmlformats.org/drawingml/2006/main" w="0">
            <a:solidFill>
              <a:srgbClr val="C55A26"/>
            </a:solidFill>
            <a:prstDash val="solid"/>
          </a:ln>
        </p:spPr>
      </p:sp>
      <p:sp>
        <p:nvSpPr>
          <p:cNvPr id="27" name="graph-paper-C-label">
            <a:extLst xmlns:a="http://schemas.openxmlformats.org/drawingml/2006/main">
              <a:ext uri="{FF2B5EF4-FFF2-40B4-BE49-F238E27FC236}">
                <a16:creationId xmlns:a16="http://schemas.microsoft.com/office/drawing/2014/main" id="{F5233CF6-061A-4940-A347-855DC52C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5906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8" name="graph-paper-B">
            <a:extLst xmlns:a="http://schemas.openxmlformats.org/drawingml/2006/main">
              <a:ext uri="{FF2B5EF4-FFF2-40B4-BE49-F238E27FC236}">
                <a16:creationId xmlns:a16="http://schemas.microsoft.com/office/drawing/2014/main" id="{1AEA2269-433D-4843-A67E-71458C43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28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9" name="graph-paper-B-label">
            <a:extLst xmlns:a="http://schemas.openxmlformats.org/drawingml/2006/main">
              <a:ext uri="{FF2B5EF4-FFF2-40B4-BE49-F238E27FC236}">
                <a16:creationId xmlns:a16="http://schemas.microsoft.com/office/drawing/2014/main" id="{3DA319E9-F93A-47FB-B4A5-4B71E1C7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573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0" name="graph-label">
            <a:extLst xmlns:a="http://schemas.openxmlformats.org/drawingml/2006/main">
              <a:ext uri="{FF2B5EF4-FFF2-40B4-BE49-F238E27FC236}">
                <a16:creationId xmlns:a16="http://schemas.microsoft.com/office/drawing/2014/main" id="{9E691B0B-21AC-435D-A9E7-88B565B9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29540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CITATION EXPANSION</a:t>
            </a:r>
          </a:p>
        </p:txBody>
      </p:sp>
      <p:sp>
        <p:nvSpPr>
          <p:cNvPr id="31" name="bridge-lane">
            <a:extLst xmlns:a="http://schemas.openxmlformats.org/drawingml/2006/main">
              <a:ext uri="{FF2B5EF4-FFF2-40B4-BE49-F238E27FC236}">
                <a16:creationId xmlns:a16="http://schemas.microsoft.com/office/drawing/2014/main" id="{E18BB47D-D233-4DFD-A20A-968F4DF9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257300"/>
            <a:ext cx="164782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32" name="bridge-title">
            <a:extLst xmlns:a="http://schemas.openxmlformats.org/drawingml/2006/main">
              <a:ext uri="{FF2B5EF4-FFF2-40B4-BE49-F238E27FC236}">
                <a16:creationId xmlns:a16="http://schemas.microsoft.com/office/drawing/2014/main" id="{CD4941E5-BB99-4689-8983-43666F14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343025"/>
            <a:ext cx="1457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Bridges</a:t>
            </a:r>
          </a:p>
        </p:txBody>
      </p:sp>
      <p:sp>
        <p:nvSpPr>
          <p:cNvPr id="33" name="bridge-types">
            <a:extLst xmlns:a="http://schemas.openxmlformats.org/drawingml/2006/main">
              <a:ext uri="{FF2B5EF4-FFF2-40B4-BE49-F238E27FC236}">
                <a16:creationId xmlns:a16="http://schemas.microsoft.com/office/drawing/2014/main" id="{50E62706-376B-42D8-9944-D4710BF0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657350"/>
            <a:ext cx="15335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GRAPH · TEXT · LANDSCAPE</a:t>
            </a:r>
          </a:p>
        </p:txBody>
      </p:sp>
      <p:sp>
        <p:nvSpPr>
          <p:cNvPr id="34" name="claim">
            <a:extLst xmlns:a="http://schemas.openxmlformats.org/drawingml/2006/main">
              <a:ext uri="{FF2B5EF4-FFF2-40B4-BE49-F238E27FC236}">
                <a16:creationId xmlns:a16="http://schemas.microsoft.com/office/drawing/2014/main" id="{6BB07527-F0A8-46AF-AAB5-35B514B2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609850"/>
            <a:ext cx="114300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EEE8FF"/>
          </a:solidFill>
          <a:ln xmlns:a="http://schemas.openxmlformats.org/drawingml/2006/main" w="19050">
            <a:solidFill>
              <a:srgbClr val="6D46D8"/>
            </a:solidFill>
            <a:prstDash val="solid"/>
          </a:ln>
        </p:spPr>
      </p:sp>
      <p:sp>
        <p:nvSpPr>
          <p:cNvPr id="35" name="claim-accent">
            <a:extLst xmlns:a="http://schemas.openxmlformats.org/drawingml/2006/main">
              <a:ext uri="{FF2B5EF4-FFF2-40B4-BE49-F238E27FC236}">
                <a16:creationId xmlns:a16="http://schemas.microsoft.com/office/drawing/2014/main" id="{9C4A9609-8276-4AE5-91F2-D931BF0F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6098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6D8"/>
          </a:solidFill>
          <a:ln xmlns:a="http://schemas.openxmlformats.org/drawingml/2006/main" w="0">
            <a:solidFill>
              <a:srgbClr val="6D46D8"/>
            </a:solidFill>
            <a:prstDash val="solid"/>
          </a:ln>
        </p:spPr>
      </p:sp>
      <p:sp>
        <p:nvSpPr>
          <p:cNvPr id="3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1D77EB6E-256C-479E-86E8-F26D0B75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432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Claim</a:t>
            </a:r>
          </a:p>
        </p:txBody>
      </p:sp>
      <p:sp>
        <p:nvSpPr>
          <p:cNvPr id="37" name="claim-subtitle">
            <a:extLst xmlns:a="http://schemas.openxmlformats.org/drawingml/2006/main">
              <a:ext uri="{FF2B5EF4-FFF2-40B4-BE49-F238E27FC236}">
                <a16:creationId xmlns:a16="http://schemas.microsoft.com/office/drawing/2014/main" id="{49D7275E-CB9A-41A4-86C7-9F13072A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152775"/>
            <a:ext cx="87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claim-cutoff">
            <a:extLst xmlns:a="http://schemas.openxmlformats.org/drawingml/2006/main">
              <a:ext uri="{FF2B5EF4-FFF2-40B4-BE49-F238E27FC236}">
                <a16:creationId xmlns:a16="http://schemas.microsoft.com/office/drawing/2014/main" id="{02425E5F-0FA4-4170-BA48-87E05467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05150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D46D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D46D8"/>
                </a:solidFill>
                <a:latin typeface="Arial"/>
                <a:ea typeface="Arial"/>
                <a:cs typeface="Arial"/>
              </a:rPr>
              <a:t>cutoff</a:t>
            </a:r>
          </a:p>
        </p:txBody>
      </p:sp>
      <p:sp>
        <p:nvSpPr>
          <p:cNvPr id="39" name="claim-F1">
            <a:extLst xmlns:a="http://schemas.openxmlformats.org/drawingml/2006/main">
              <a:ext uri="{FF2B5EF4-FFF2-40B4-BE49-F238E27FC236}">
                <a16:creationId xmlns:a16="http://schemas.microsoft.com/office/drawing/2014/main" id="{EB015A51-C822-4E45-B2E1-434C0432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051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46D8"/>
            </a:solidFill>
            <a:prstDash val="solid"/>
          </a:ln>
        </p:spPr>
      </p:sp>
      <p:sp>
        <p:nvSpPr>
          <p:cNvPr id="40" name="claim-F1-text">
            <a:extLst xmlns:a="http://schemas.openxmlformats.org/drawingml/2006/main">
              <a:ext uri="{FF2B5EF4-FFF2-40B4-BE49-F238E27FC236}">
                <a16:creationId xmlns:a16="http://schemas.microsoft.com/office/drawing/2014/main" id="{C5E3BABB-A223-4EAB-AE29-C3F418E9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14700"/>
            <a:ext cx="247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D46D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D46D8"/>
                </a:solidFill>
                <a:latin typeface="Arial"/>
                <a:ea typeface="Arial"/>
                <a:cs typeface="Arial"/>
              </a:rPr>
              <a:t>F1</a:t>
            </a:r>
          </a:p>
        </p:txBody>
      </p:sp>
      <p:sp>
        <p:nvSpPr>
          <p:cNvPr id="41" name="claim-F2">
            <a:extLst xmlns:a="http://schemas.openxmlformats.org/drawingml/2006/main">
              <a:ext uri="{FF2B5EF4-FFF2-40B4-BE49-F238E27FC236}">
                <a16:creationId xmlns:a16="http://schemas.microsoft.com/office/drawing/2014/main" id="{D0439817-353F-4D92-8DC2-A60F7F55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3051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46D8"/>
            </a:solidFill>
            <a:prstDash val="solid"/>
          </a:ln>
        </p:spPr>
      </p:sp>
      <p:sp>
        <p:nvSpPr>
          <p:cNvPr id="42" name="claim-F2-text">
            <a:extLst xmlns:a="http://schemas.openxmlformats.org/drawingml/2006/main">
              <a:ext uri="{FF2B5EF4-FFF2-40B4-BE49-F238E27FC236}">
                <a16:creationId xmlns:a16="http://schemas.microsoft.com/office/drawing/2014/main" id="{86C7694F-FDA8-4308-8F5A-E2D6AD10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314700"/>
            <a:ext cx="247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D46D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D46D8"/>
                </a:solidFill>
                <a:latin typeface="Arial"/>
                <a:ea typeface="Arial"/>
                <a:cs typeface="Arial"/>
              </a:rPr>
              <a:t>F2</a:t>
            </a:r>
          </a:p>
        </p:txBody>
      </p:sp>
      <p:sp>
        <p:nvSpPr>
          <p:cNvPr id="43" name="claim-F3">
            <a:extLst xmlns:a="http://schemas.openxmlformats.org/drawingml/2006/main">
              <a:ext uri="{FF2B5EF4-FFF2-40B4-BE49-F238E27FC236}">
                <a16:creationId xmlns:a16="http://schemas.microsoft.com/office/drawing/2014/main" id="{93759A99-0B13-4C19-ADC0-5D298963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3051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46D8"/>
            </a:solidFill>
            <a:prstDash val="solid"/>
          </a:ln>
        </p:spPr>
      </p:sp>
      <p:sp>
        <p:nvSpPr>
          <p:cNvPr id="44" name="claim-F3-text">
            <a:extLst xmlns:a="http://schemas.openxmlformats.org/drawingml/2006/main">
              <a:ext uri="{FF2B5EF4-FFF2-40B4-BE49-F238E27FC236}">
                <a16:creationId xmlns:a16="http://schemas.microsoft.com/office/drawing/2014/main" id="{599E06DF-750C-475F-BFAF-8F72A546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314700"/>
            <a:ext cx="247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D46D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D46D8"/>
                </a:solidFill>
                <a:latin typeface="Arial"/>
                <a:ea typeface="Arial"/>
                <a:cs typeface="Arial"/>
              </a:rPr>
              <a:t>F3</a:t>
            </a:r>
          </a:p>
        </p:txBody>
      </p:sp>
      <p:sp>
        <p:nvSpPr>
          <p:cNvPr id="45" name="freeze">
            <a:extLst xmlns:a="http://schemas.openxmlformats.org/drawingml/2006/main">
              <a:ext uri="{FF2B5EF4-FFF2-40B4-BE49-F238E27FC236}">
                <a16:creationId xmlns:a16="http://schemas.microsoft.com/office/drawing/2014/main" id="{1C7FF195-EDE9-4BF1-B03A-EC7B31CA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09850"/>
            <a:ext cx="127635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D46D8"/>
            </a:solidFill>
            <a:prstDash val="solid"/>
          </a:ln>
        </p:spPr>
      </p:sp>
      <p:sp>
        <p:nvSpPr>
          <p:cNvPr id="46" name="freeze-accent">
            <a:extLst xmlns:a="http://schemas.openxmlformats.org/drawingml/2006/main">
              <a:ext uri="{FF2B5EF4-FFF2-40B4-BE49-F238E27FC236}">
                <a16:creationId xmlns:a16="http://schemas.microsoft.com/office/drawing/2014/main" id="{86A6952C-C51A-46CC-9D37-CEA233FA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098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6D8"/>
          </a:solidFill>
          <a:ln xmlns:a="http://schemas.openxmlformats.org/drawingml/2006/main" w="0">
            <a:solidFill>
              <a:srgbClr val="6D46D8"/>
            </a:solidFill>
            <a:prstDash val="solid"/>
          </a:ln>
        </p:spPr>
      </p:sp>
      <p:sp>
        <p:nvSpPr>
          <p:cNvPr id="47" name="freeze-title">
            <a:extLst xmlns:a="http://schemas.openxmlformats.org/drawingml/2006/main">
              <a:ext uri="{FF2B5EF4-FFF2-40B4-BE49-F238E27FC236}">
                <a16:creationId xmlns:a16="http://schemas.microsoft.com/office/drawing/2014/main" id="{C10B1A97-0510-46F1-8920-55CE30A4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743200"/>
            <a:ext cx="100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Freeze</a:t>
            </a:r>
          </a:p>
        </p:txBody>
      </p:sp>
      <p:sp>
        <p:nvSpPr>
          <p:cNvPr id="48" name="freeze-subtitle">
            <a:extLst xmlns:a="http://schemas.openxmlformats.org/drawingml/2006/main">
              <a:ext uri="{FF2B5EF4-FFF2-40B4-BE49-F238E27FC236}">
                <a16:creationId xmlns:a16="http://schemas.microsoft.com/office/drawing/2014/main" id="{1801D86B-3D02-43B0-AFCA-BAE9A453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52775"/>
            <a:ext cx="1009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C6370"/>
                </a:solidFill>
                <a:latin typeface="Arial"/>
                <a:ea typeface="Arial"/>
                <a:cs typeface="Arial"/>
              </a:rPr>
              <a:t>immutable</a:t>
            </a:r>
          </a:p>
          <a:p xmlns:a="http://schemas.openxmlformats.org/drawingml/2006/main">
            <a:pPr algn="ctr">
              <a:defRPr sz="105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C6370"/>
                </a:solidFill>
                <a:latin typeface="Arial"/>
                <a:ea typeface="Arial"/>
                <a:cs typeface="Arial"/>
              </a:rPr>
              <a:t>claim contract</a:t>
            </a:r>
          </a:p>
        </p:txBody>
      </p:sp>
      <p:sp>
        <p:nvSpPr>
          <p:cNvPr id="49" name="retrieve">
            <a:extLst xmlns:a="http://schemas.openxmlformats.org/drawingml/2006/main">
              <a:ext uri="{FF2B5EF4-FFF2-40B4-BE49-F238E27FC236}">
                <a16:creationId xmlns:a16="http://schemas.microsoft.com/office/drawing/2014/main" id="{9A478421-37AA-455D-AC77-0822D51E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09850"/>
            <a:ext cx="144780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50" name="retrieve-accent">
            <a:extLst xmlns:a="http://schemas.openxmlformats.org/drawingml/2006/main">
              <a:ext uri="{FF2B5EF4-FFF2-40B4-BE49-F238E27FC236}">
                <a16:creationId xmlns:a16="http://schemas.microsoft.com/office/drawing/2014/main" id="{F47C3463-75DB-4E66-BF63-48D7CCA5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098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1" name="retrieve-title">
            <a:extLst xmlns:a="http://schemas.openxmlformats.org/drawingml/2006/main">
              <a:ext uri="{FF2B5EF4-FFF2-40B4-BE49-F238E27FC236}">
                <a16:creationId xmlns:a16="http://schemas.microsoft.com/office/drawing/2014/main" id="{3355E7BB-FD8A-4A56-ACE0-32EEEE51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4320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2" name="retrieve-subtitle">
            <a:extLst xmlns:a="http://schemas.openxmlformats.org/drawingml/2006/main">
              <a:ext uri="{FF2B5EF4-FFF2-40B4-BE49-F238E27FC236}">
                <a16:creationId xmlns:a16="http://schemas.microsoft.com/office/drawing/2014/main" id="{0F427343-2584-4127-B6F7-3513D05B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52775"/>
            <a:ext cx="118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C6370"/>
                </a:solidFill>
                <a:latin typeface="Arial"/>
                <a:ea typeface="Arial"/>
                <a:cs typeface="Arial"/>
              </a:rPr>
              <a:t>query families</a:t>
            </a:r>
          </a:p>
          <a:p xmlns:a="http://schemas.openxmlformats.org/drawingml/2006/main">
            <a:pPr algn="ctr">
              <a:defRPr sz="105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C6370"/>
                </a:solidFill>
                <a:latin typeface="Arial"/>
                <a:ea typeface="Arial"/>
                <a:cs typeface="Arial"/>
              </a:rPr>
              <a:t>+ date backstop</a:t>
            </a:r>
          </a:p>
        </p:txBody>
      </p:sp>
      <p:sp>
        <p:nvSpPr>
          <p:cNvPr id="53" name="evidence">
            <a:extLst xmlns:a="http://schemas.openxmlformats.org/drawingml/2006/main">
              <a:ext uri="{FF2B5EF4-FFF2-40B4-BE49-F238E27FC236}">
                <a16:creationId xmlns:a16="http://schemas.microsoft.com/office/drawing/2014/main" id="{7F0A4DA0-922F-4C1B-A905-0C7E5D7D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09850"/>
            <a:ext cx="1495425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54" name="evidence-accent">
            <a:extLst xmlns:a="http://schemas.openxmlformats.org/drawingml/2006/main">
              <a:ext uri="{FF2B5EF4-FFF2-40B4-BE49-F238E27FC236}">
                <a16:creationId xmlns:a16="http://schemas.microsoft.com/office/drawing/2014/main" id="{A15DD236-AFB2-4750-B8D1-04A889AE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098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5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1A657079-A080-4296-A3A5-C0BAF052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43200"/>
            <a:ext cx="1228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56" name="evidence-subtitle">
            <a:extLst xmlns:a="http://schemas.openxmlformats.org/drawingml/2006/main">
              <a:ext uri="{FF2B5EF4-FFF2-40B4-BE49-F238E27FC236}">
                <a16:creationId xmlns:a16="http://schemas.microsoft.com/office/drawing/2014/main" id="{DF1645A2-C2CC-4295-94F5-112F023B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52775"/>
            <a:ext cx="1228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C6370"/>
                </a:solidFill>
                <a:latin typeface="Arial"/>
                <a:ea typeface="Arial"/>
                <a:cs typeface="Arial"/>
              </a:rPr>
              <a:t>canonical IDs</a:t>
            </a:r>
          </a:p>
          <a:p xmlns:a="http://schemas.openxmlformats.org/drawingml/2006/main">
            <a:pPr algn="ctr">
              <a:defRPr sz="105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C6370"/>
                </a:solidFill>
                <a:latin typeface="Arial"/>
                <a:ea typeface="Arial"/>
                <a:cs typeface="Arial"/>
              </a:rPr>
              <a:t>+ hashed spans</a:t>
            </a:r>
          </a:p>
        </p:txBody>
      </p:sp>
      <p:sp>
        <p:nvSpPr>
          <p:cNvPr id="57" name="mps">
            <a:extLst xmlns:a="http://schemas.openxmlformats.org/drawingml/2006/main">
              <a:ext uri="{FF2B5EF4-FFF2-40B4-BE49-F238E27FC236}">
                <a16:creationId xmlns:a16="http://schemas.microsoft.com/office/drawing/2014/main" id="{118E479B-8EAB-4243-9FCA-37F55C8B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609850"/>
            <a:ext cx="1685925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58" name="mps-accent">
            <a:extLst xmlns:a="http://schemas.openxmlformats.org/drawingml/2006/main">
              <a:ext uri="{FF2B5EF4-FFF2-40B4-BE49-F238E27FC236}">
                <a16:creationId xmlns:a16="http://schemas.microsoft.com/office/drawing/2014/main" id="{98F29823-DB03-4F3D-AFAA-5DF1334D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6098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59" name="mps-title">
            <a:extLst xmlns:a="http://schemas.openxmlformats.org/drawingml/2006/main">
              <a:ext uri="{FF2B5EF4-FFF2-40B4-BE49-F238E27FC236}">
                <a16:creationId xmlns:a16="http://schemas.microsoft.com/office/drawing/2014/main" id="{FF784FFF-8E6C-4DE0-AA10-BA26E5AC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743200"/>
            <a:ext cx="1419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MPS ≤ 3</a:t>
            </a:r>
          </a:p>
        </p:txBody>
      </p:sp>
      <p:sp>
        <p:nvSpPr>
          <p:cNvPr id="60" name="mps-subtitle">
            <a:extLst xmlns:a="http://schemas.openxmlformats.org/drawingml/2006/main">
              <a:ext uri="{FF2B5EF4-FFF2-40B4-BE49-F238E27FC236}">
                <a16:creationId xmlns:a16="http://schemas.microsoft.com/office/drawing/2014/main" id="{2CF51F3A-8179-49B3-996F-2F20EDD0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152775"/>
            <a:ext cx="1419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1" name="mps-joint-cover">
            <a:extLst xmlns:a="http://schemas.openxmlformats.org/drawingml/2006/main">
              <a:ext uri="{FF2B5EF4-FFF2-40B4-BE49-F238E27FC236}">
                <a16:creationId xmlns:a16="http://schemas.microsoft.com/office/drawing/2014/main" id="{964549A4-FB3F-4C61-81AE-964794D2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05150"/>
            <a:ext cx="1362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smallest joint cover</a:t>
            </a:r>
          </a:p>
        </p:txBody>
      </p:sp>
      <p:sp>
        <p:nvSpPr>
          <p:cNvPr id="62" name="mps-P1">
            <a:extLst xmlns:a="http://schemas.openxmlformats.org/drawingml/2006/main">
              <a:ext uri="{FF2B5EF4-FFF2-40B4-BE49-F238E27FC236}">
                <a16:creationId xmlns:a16="http://schemas.microsoft.com/office/drawing/2014/main" id="{F26555E8-309D-4132-995B-E1EAF056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295650"/>
            <a:ext cx="361950" cy="228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D46D8"/>
          </a:solidFill>
          <a:ln xmlns:a="http://schemas.openxmlformats.org/drawingml/2006/main" w="0">
            <a:solidFill>
              <a:srgbClr val="6D46D8"/>
            </a:solidFill>
            <a:prstDash val="solid"/>
          </a:ln>
        </p:spPr>
      </p:sp>
      <p:sp>
        <p:nvSpPr>
          <p:cNvPr id="63" name="mps-P1-text">
            <a:extLst xmlns:a="http://schemas.openxmlformats.org/drawingml/2006/main">
              <a:ext uri="{FF2B5EF4-FFF2-40B4-BE49-F238E27FC236}">
                <a16:creationId xmlns:a16="http://schemas.microsoft.com/office/drawing/2014/main" id="{AC9ACB5E-B0BA-4798-90C6-EB8CD651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32422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P1</a:t>
            </a:r>
          </a:p>
        </p:txBody>
      </p:sp>
      <p:sp>
        <p:nvSpPr>
          <p:cNvPr id="64" name="mps-P2">
            <a:extLst xmlns:a="http://schemas.openxmlformats.org/drawingml/2006/main">
              <a:ext uri="{FF2B5EF4-FFF2-40B4-BE49-F238E27FC236}">
                <a16:creationId xmlns:a16="http://schemas.microsoft.com/office/drawing/2014/main" id="{878979C4-465D-4870-A890-B9359F7C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95650"/>
            <a:ext cx="361950" cy="228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5" name="mps-P2-text">
            <a:extLst xmlns:a="http://schemas.openxmlformats.org/drawingml/2006/main">
              <a:ext uri="{FF2B5EF4-FFF2-40B4-BE49-F238E27FC236}">
                <a16:creationId xmlns:a16="http://schemas.microsoft.com/office/drawing/2014/main" id="{4409F1C8-4CA6-45D4-8B94-D2110A4C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2422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P2</a:t>
            </a:r>
          </a:p>
        </p:txBody>
      </p:sp>
      <p:sp>
        <p:nvSpPr>
          <p:cNvPr id="66" name="mps-P3">
            <a:extLst xmlns:a="http://schemas.openxmlformats.org/drawingml/2006/main">
              <a:ext uri="{FF2B5EF4-FFF2-40B4-BE49-F238E27FC236}">
                <a16:creationId xmlns:a16="http://schemas.microsoft.com/office/drawing/2014/main" id="{E81088C6-C6D5-4E06-9A4B-9B5BE630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295650"/>
            <a:ext cx="361950" cy="228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7" name="mps-P3-text">
            <a:extLst xmlns:a="http://schemas.openxmlformats.org/drawingml/2006/main">
              <a:ext uri="{FF2B5EF4-FFF2-40B4-BE49-F238E27FC236}">
                <a16:creationId xmlns:a16="http://schemas.microsoft.com/office/drawing/2014/main" id="{746EBD4C-D14A-43B2-96D3-AC67D27A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32422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P3</a:t>
            </a:r>
          </a:p>
        </p:txBody>
      </p:sp>
      <p:sp>
        <p:nvSpPr>
          <p:cNvPr id="68" name="validate">
            <a:extLst xmlns:a="http://schemas.openxmlformats.org/drawingml/2006/main">
              <a:ext uri="{FF2B5EF4-FFF2-40B4-BE49-F238E27FC236}">
                <a16:creationId xmlns:a16="http://schemas.microsoft.com/office/drawing/2014/main" id="{AEE9BAF6-8895-4F90-972C-53F6109B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09850"/>
            <a:ext cx="1495425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19050">
            <a:solidFill>
              <a:srgbClr val="15171B"/>
            </a:solidFill>
            <a:prstDash val="solid"/>
          </a:ln>
        </p:spPr>
      </p:sp>
      <p:sp>
        <p:nvSpPr>
          <p:cNvPr id="69" name="validate-accent">
            <a:extLst xmlns:a="http://schemas.openxmlformats.org/drawingml/2006/main">
              <a:ext uri="{FF2B5EF4-FFF2-40B4-BE49-F238E27FC236}">
                <a16:creationId xmlns:a16="http://schemas.microsoft.com/office/drawing/2014/main" id="{F9C0C639-4462-4312-AA20-81C3DC14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098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B"/>
          </a:solidFill>
          <a:ln xmlns:a="http://schemas.openxmlformats.org/drawingml/2006/main" w="0">
            <a:solidFill>
              <a:srgbClr val="15171B"/>
            </a:solidFill>
            <a:prstDash val="solid"/>
          </a:ln>
        </p:spPr>
      </p:sp>
      <p:sp>
        <p:nvSpPr>
          <p:cNvPr id="70" name="validate-title">
            <a:extLst xmlns:a="http://schemas.openxmlformats.org/drawingml/2006/main">
              <a:ext uri="{FF2B5EF4-FFF2-40B4-BE49-F238E27FC236}">
                <a16:creationId xmlns:a16="http://schemas.microsoft.com/office/drawing/2014/main" id="{CD0F700A-379F-4661-B331-899FB8AA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43200"/>
            <a:ext cx="1228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71" name="validate-subtitle">
            <a:extLst xmlns:a="http://schemas.openxmlformats.org/drawingml/2006/main">
              <a:ext uri="{FF2B5EF4-FFF2-40B4-BE49-F238E27FC236}">
                <a16:creationId xmlns:a16="http://schemas.microsoft.com/office/drawing/2014/main" id="{29B8C4DB-818C-4C2E-A40A-5BA3E283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52775"/>
            <a:ext cx="1228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C6370"/>
                </a:solidFill>
                <a:latin typeface="Arial"/>
                <a:ea typeface="Arial"/>
                <a:cs typeface="Arial"/>
              </a:rPr>
              <a:t>recompute</a:t>
            </a:r>
          </a:p>
          <a:p xmlns:a="http://schemas.openxmlformats.org/drawingml/2006/main">
            <a:pPr algn="ctr">
              <a:defRPr sz="105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C6370"/>
                </a:solidFill>
                <a:latin typeface="Arial"/>
                <a:ea typeface="Arial"/>
                <a:cs typeface="Arial"/>
              </a:rPr>
              <a:t>+ bind runtime</a:t>
            </a:r>
          </a:p>
        </p:txBody>
      </p:sp>
      <p:sp>
        <p:nvSpPr>
          <p:cNvPr id="72" name="report">
            <a:extLst xmlns:a="http://schemas.openxmlformats.org/drawingml/2006/main">
              <a:ext uri="{FF2B5EF4-FFF2-40B4-BE49-F238E27FC236}">
                <a16:creationId xmlns:a16="http://schemas.microsoft.com/office/drawing/2014/main" id="{B9B63D9A-EBFE-4F60-A514-144FFF7F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2609850"/>
            <a:ext cx="135255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7E4D9"/>
          </a:solidFill>
          <a:ln xmlns:a="http://schemas.openxmlformats.org/drawingml/2006/main" w="19050">
            <a:solidFill>
              <a:srgbClr val="C55A26"/>
            </a:solidFill>
            <a:prstDash val="solid"/>
          </a:ln>
        </p:spPr>
      </p:sp>
      <p:sp>
        <p:nvSpPr>
          <p:cNvPr id="73" name="report-accent">
            <a:extLst xmlns:a="http://schemas.openxmlformats.org/drawingml/2006/main">
              <a:ext uri="{FF2B5EF4-FFF2-40B4-BE49-F238E27FC236}">
                <a16:creationId xmlns:a16="http://schemas.microsoft.com/office/drawing/2014/main" id="{2C06D8E8-9CD8-4965-9129-21396323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26098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5A26"/>
          </a:solidFill>
          <a:ln xmlns:a="http://schemas.openxmlformats.org/drawingml/2006/main" w="0">
            <a:solidFill>
              <a:srgbClr val="C55A26"/>
            </a:solidFill>
            <a:prstDash val="solid"/>
          </a:ln>
        </p:spPr>
      </p:sp>
      <p:sp>
        <p:nvSpPr>
          <p:cNvPr id="74" name="report-title">
            <a:extLst xmlns:a="http://schemas.openxmlformats.org/drawingml/2006/main">
              <a:ext uri="{FF2B5EF4-FFF2-40B4-BE49-F238E27FC236}">
                <a16:creationId xmlns:a16="http://schemas.microsoft.com/office/drawing/2014/main" id="{008DBF52-CDBE-4B71-B1E6-0D0A806B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27432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75" name="report-subtitle">
            <a:extLst xmlns:a="http://schemas.openxmlformats.org/drawingml/2006/main">
              <a:ext uri="{FF2B5EF4-FFF2-40B4-BE49-F238E27FC236}">
                <a16:creationId xmlns:a16="http://schemas.microsoft.com/office/drawing/2014/main" id="{6022D7F4-0FC6-4607-A7FC-CDF5907D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3152775"/>
            <a:ext cx="108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6" name="report-axes-label">
            <a:extLst xmlns:a="http://schemas.openxmlformats.org/drawingml/2006/main">
              <a:ext uri="{FF2B5EF4-FFF2-40B4-BE49-F238E27FC236}">
                <a16:creationId xmlns:a16="http://schemas.microsoft.com/office/drawing/2014/main" id="{C4AB9886-A83C-425D-858B-E3A3854D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3067050"/>
            <a:ext cx="971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55A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55A26"/>
                </a:solidFill>
                <a:latin typeface="Arial"/>
                <a:ea typeface="Arial"/>
                <a:cs typeface="Arial"/>
              </a:rPr>
              <a:t>R · C · E</a:t>
            </a:r>
          </a:p>
        </p:txBody>
      </p:sp>
      <p:sp>
        <p:nvSpPr>
          <p:cNvPr id="77" name="report-RISK">
            <a:extLst xmlns:a="http://schemas.openxmlformats.org/drawingml/2006/main">
              <a:ext uri="{FF2B5EF4-FFF2-40B4-BE49-F238E27FC236}">
                <a16:creationId xmlns:a16="http://schemas.microsoft.com/office/drawing/2014/main" id="{97AF306B-E804-4C11-9BAD-6A1357FE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3228975"/>
            <a:ext cx="9715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6D8"/>
          </a:solidFill>
          <a:ln xmlns:a="http://schemas.openxmlformats.org/drawingml/2006/main" w="0">
            <a:solidFill>
              <a:srgbClr val="6D46D8"/>
            </a:solidFill>
            <a:prstDash val="solid"/>
          </a:ln>
        </p:spPr>
      </p:sp>
      <p:sp>
        <p:nvSpPr>
          <p:cNvPr id="78" name="report-COVERAGE">
            <a:extLst xmlns:a="http://schemas.openxmlformats.org/drawingml/2006/main">
              <a:ext uri="{FF2B5EF4-FFF2-40B4-BE49-F238E27FC236}">
                <a16:creationId xmlns:a16="http://schemas.microsoft.com/office/drawing/2014/main" id="{4DC96483-72AC-4F37-A1B7-F335BA63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3371850"/>
            <a:ext cx="9715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9" name="report-CONFIDENCE">
            <a:extLst xmlns:a="http://schemas.openxmlformats.org/drawingml/2006/main">
              <a:ext uri="{FF2B5EF4-FFF2-40B4-BE49-F238E27FC236}">
                <a16:creationId xmlns:a16="http://schemas.microsoft.com/office/drawing/2014/main" id="{DAE06115-D9C0-47C4-93D2-26F23D89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3514725"/>
            <a:ext cx="9715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0" name="providers-label">
            <a:extLst xmlns:a="http://schemas.openxmlformats.org/drawingml/2006/main">
              <a:ext uri="{FF2B5EF4-FFF2-40B4-BE49-F238E27FC236}">
                <a16:creationId xmlns:a16="http://schemas.microsoft.com/office/drawing/2014/main" id="{548A31F4-18C5-4521-BA85-636B7B42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305300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PROVIDER UNION</a:t>
            </a:r>
          </a:p>
        </p:txBody>
      </p:sp>
      <p:sp>
        <p:nvSpPr>
          <p:cNvPr id="81" name="provider-OpenAlex">
            <a:extLst xmlns:a="http://schemas.openxmlformats.org/drawingml/2006/main">
              <a:ext uri="{FF2B5EF4-FFF2-40B4-BE49-F238E27FC236}">
                <a16:creationId xmlns:a16="http://schemas.microsoft.com/office/drawing/2014/main" id="{F99487D1-B442-412A-ADA0-D42FBABC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62450"/>
            <a:ext cx="666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2" name="provider-OpenAlex-text">
            <a:extLst xmlns:a="http://schemas.openxmlformats.org/drawingml/2006/main">
              <a:ext uri="{FF2B5EF4-FFF2-40B4-BE49-F238E27FC236}">
                <a16:creationId xmlns:a16="http://schemas.microsoft.com/office/drawing/2014/main" id="{DB460FCF-092C-4307-B278-77BF811C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5770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OpenAlex</a:t>
            </a:r>
          </a:p>
        </p:txBody>
      </p:sp>
      <p:sp>
        <p:nvSpPr>
          <p:cNvPr id="83" name="provider-S2">
            <a:extLst xmlns:a="http://schemas.openxmlformats.org/drawingml/2006/main">
              <a:ext uri="{FF2B5EF4-FFF2-40B4-BE49-F238E27FC236}">
                <a16:creationId xmlns:a16="http://schemas.microsoft.com/office/drawing/2014/main" id="{AC072FB5-91CF-4DE9-BF88-A60338CC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62450"/>
            <a:ext cx="666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4" name="provider-S2-text">
            <a:extLst xmlns:a="http://schemas.openxmlformats.org/drawingml/2006/main">
              <a:ext uri="{FF2B5EF4-FFF2-40B4-BE49-F238E27FC236}">
                <a16:creationId xmlns:a16="http://schemas.microsoft.com/office/drawing/2014/main" id="{336DB8D6-2C73-428E-8DDA-ED273ABE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5770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S2</a:t>
            </a:r>
          </a:p>
        </p:txBody>
      </p:sp>
      <p:sp>
        <p:nvSpPr>
          <p:cNvPr id="85" name="provider-arXiv">
            <a:extLst xmlns:a="http://schemas.openxmlformats.org/drawingml/2006/main">
              <a:ext uri="{FF2B5EF4-FFF2-40B4-BE49-F238E27FC236}">
                <a16:creationId xmlns:a16="http://schemas.microsoft.com/office/drawing/2014/main" id="{8EF3DEA3-27AE-4EA8-89D7-52A3051F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62450"/>
            <a:ext cx="666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6" name="provider-arXiv-text">
            <a:extLst xmlns:a="http://schemas.openxmlformats.org/drawingml/2006/main">
              <a:ext uri="{FF2B5EF4-FFF2-40B4-BE49-F238E27FC236}">
                <a16:creationId xmlns:a16="http://schemas.microsoft.com/office/drawing/2014/main" id="{E4CEE6C3-6905-49AD-8D83-D5DFF896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45770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arXiv</a:t>
            </a:r>
          </a:p>
        </p:txBody>
      </p:sp>
      <p:sp>
        <p:nvSpPr>
          <p:cNvPr id="87" name="provider-Crossref">
            <a:extLst xmlns:a="http://schemas.openxmlformats.org/drawingml/2006/main">
              <a:ext uri="{FF2B5EF4-FFF2-40B4-BE49-F238E27FC236}">
                <a16:creationId xmlns:a16="http://schemas.microsoft.com/office/drawing/2014/main" id="{6911D5F3-A4BC-4903-93D8-B40A25D7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62450"/>
            <a:ext cx="666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8" name="provider-Crossref-text">
            <a:extLst xmlns:a="http://schemas.openxmlformats.org/drawingml/2006/main">
              <a:ext uri="{FF2B5EF4-FFF2-40B4-BE49-F238E27FC236}">
                <a16:creationId xmlns:a16="http://schemas.microsoft.com/office/drawing/2014/main" id="{5FDAACA8-7857-469F-95C1-CE7953E5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5770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Crossref</a:t>
            </a:r>
          </a:p>
        </p:txBody>
      </p:sp>
      <p:sp>
        <p:nvSpPr>
          <p:cNvPr id="89" name="fulltext">
            <a:extLst xmlns:a="http://schemas.openxmlformats.org/drawingml/2006/main">
              <a:ext uri="{FF2B5EF4-FFF2-40B4-BE49-F238E27FC236}">
                <a16:creationId xmlns:a16="http://schemas.microsoft.com/office/drawing/2014/main" id="{8A3D2BFC-D302-4D8C-92E0-668C2867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248150"/>
            <a:ext cx="13144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AEB4BE"/>
            </a:solidFill>
            <a:prstDash val="solid"/>
          </a:ln>
        </p:spPr>
      </p:sp>
      <p:sp>
        <p:nvSpPr>
          <p:cNvPr id="90" name="fulltext-title">
            <a:extLst xmlns:a="http://schemas.openxmlformats.org/drawingml/2006/main">
              <a:ext uri="{FF2B5EF4-FFF2-40B4-BE49-F238E27FC236}">
                <a16:creationId xmlns:a16="http://schemas.microsoft.com/office/drawing/2014/main" id="{2B65C53C-9451-40B7-9ACA-F936CE22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33875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FULL TEXT</a:t>
            </a:r>
          </a:p>
        </p:txBody>
      </p:sp>
      <p:sp>
        <p:nvSpPr>
          <p:cNvPr id="91" name="fulltext-sub">
            <a:extLst xmlns:a="http://schemas.openxmlformats.org/drawingml/2006/main">
              <a:ext uri="{FF2B5EF4-FFF2-40B4-BE49-F238E27FC236}">
                <a16:creationId xmlns:a16="http://schemas.microsoft.com/office/drawing/2014/main" id="{1190E721-7E09-48B1-98CB-0EC5113C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43425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C6370"/>
                </a:solidFill>
                <a:latin typeface="Arial"/>
                <a:ea typeface="Arial"/>
                <a:cs typeface="Arial"/>
              </a:rPr>
              <a:t>PDF · HTML · text</a:t>
            </a:r>
          </a:p>
        </p:txBody>
      </p:sp>
      <p:sp>
        <p:nvSpPr>
          <p:cNvPr id="92" name="runtime">
            <a:extLst xmlns:a="http://schemas.openxmlformats.org/drawingml/2006/main">
              <a:ext uri="{FF2B5EF4-FFF2-40B4-BE49-F238E27FC236}">
                <a16:creationId xmlns:a16="http://schemas.microsoft.com/office/drawing/2014/main" id="{40EAB12A-D12E-492F-856F-3945BC7D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48150"/>
            <a:ext cx="1438275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AEB4BE"/>
            </a:solidFill>
            <a:prstDash val="solid"/>
          </a:ln>
        </p:spPr>
      </p:sp>
      <p:sp>
        <p:nvSpPr>
          <p:cNvPr id="93" name="runtime-title">
            <a:extLst xmlns:a="http://schemas.openxmlformats.org/drawingml/2006/main">
              <a:ext uri="{FF2B5EF4-FFF2-40B4-BE49-F238E27FC236}">
                <a16:creationId xmlns:a16="http://schemas.microsoft.com/office/drawing/2014/main" id="{8A2BF676-704B-40A6-8812-4493010E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33875"/>
            <a:ext cx="12477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ACTUAL RUNTIME</a:t>
            </a:r>
          </a:p>
        </p:txBody>
      </p:sp>
      <p:sp>
        <p:nvSpPr>
          <p:cNvPr id="94" name="runtime-sub">
            <a:extLst xmlns:a="http://schemas.openxmlformats.org/drawingml/2006/main">
              <a:ext uri="{FF2B5EF4-FFF2-40B4-BE49-F238E27FC236}">
                <a16:creationId xmlns:a16="http://schemas.microsoft.com/office/drawing/2014/main" id="{B097099D-AA67-41A7-9D70-1354ADB3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543425"/>
            <a:ext cx="1285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C6370"/>
                </a:solidFill>
                <a:latin typeface="Arial"/>
                <a:ea typeface="Arial"/>
                <a:cs typeface="Arial"/>
              </a:rPr>
              <a:t>Python · jsonschema · pypdf</a:t>
            </a:r>
          </a:p>
        </p:txBody>
      </p:sp>
      <p:sp>
        <p:nvSpPr>
          <p:cNvPr id="95" name="interpretation-rule">
            <a:extLst xmlns:a="http://schemas.openxmlformats.org/drawingml/2006/main">
              <a:ext uri="{FF2B5EF4-FFF2-40B4-BE49-F238E27FC236}">
                <a16:creationId xmlns:a16="http://schemas.microsoft.com/office/drawing/2014/main" id="{F1848440-5872-4CAD-9754-05158273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219700"/>
            <a:ext cx="1146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4BE"/>
          </a:solidFill>
          <a:ln xmlns:a="http://schemas.openxmlformats.org/drawingml/2006/main" w="0">
            <a:solidFill>
              <a:srgbClr val="AEB4BE"/>
            </a:solidFill>
            <a:prstDash val="solid"/>
          </a:ln>
        </p:spPr>
      </p:sp>
      <p:sp>
        <p:nvSpPr>
          <p:cNvPr id="96" name="coverage-label">
            <a:extLst xmlns:a="http://schemas.openxmlformats.org/drawingml/2006/main">
              <a:ext uri="{FF2B5EF4-FFF2-40B4-BE49-F238E27FC236}">
                <a16:creationId xmlns:a16="http://schemas.microsoft.com/office/drawing/2014/main" id="{8835CF76-F7C4-4D98-8D94-61400FDC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D46D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46D8"/>
                </a:solidFill>
                <a:latin typeface="Arial"/>
                <a:ea typeface="Arial"/>
                <a:cs typeface="Arial"/>
              </a:rPr>
              <a:t>FACET COVERAGE</a:t>
            </a:r>
          </a:p>
        </p:txBody>
      </p:sp>
      <p:sp>
        <p:nvSpPr>
          <p:cNvPr id="97" name="coverage-note">
            <a:extLst xmlns:a="http://schemas.openxmlformats.org/drawingml/2006/main">
              <a:ext uri="{FF2B5EF4-FFF2-40B4-BE49-F238E27FC236}">
                <a16:creationId xmlns:a16="http://schemas.microsoft.com/office/drawing/2014/main" id="{553513A9-B5A4-4942-9D75-DCF21450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Which prior papers cover the claim?</a:t>
            </a:r>
          </a:p>
        </p:txBody>
      </p:sp>
      <p:sp>
        <p:nvSpPr>
          <p:cNvPr id="98" name="connection-label">
            <a:extLst xmlns:a="http://schemas.openxmlformats.org/drawingml/2006/main">
              <a:ext uri="{FF2B5EF4-FFF2-40B4-BE49-F238E27FC236}">
                <a16:creationId xmlns:a16="http://schemas.microsoft.com/office/drawing/2014/main" id="{610B3C2B-6CA3-45DF-BBEF-5F205773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53911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HISTORICAL CONNECTION</a:t>
            </a:r>
          </a:p>
        </p:txBody>
      </p:sp>
      <p:sp>
        <p:nvSpPr>
          <p:cNvPr id="99" name="connection-note">
            <a:extLst xmlns:a="http://schemas.openxmlformats.org/drawingml/2006/main">
              <a:ext uri="{FF2B5EF4-FFF2-40B4-BE49-F238E27FC236}">
                <a16:creationId xmlns:a16="http://schemas.microsoft.com/office/drawing/2014/main" id="{67C427C4-A758-43FC-B080-F1F9DED9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56388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Were those papers meaningfully connected?</a:t>
            </a:r>
          </a:p>
        </p:txBody>
      </p:sp>
      <p:sp>
        <p:nvSpPr>
          <p:cNvPr id="100" name="gate-label">
            <a:extLst xmlns:a="http://schemas.openxmlformats.org/drawingml/2006/main">
              <a:ext uri="{FF2B5EF4-FFF2-40B4-BE49-F238E27FC236}">
                <a16:creationId xmlns:a16="http://schemas.microsoft.com/office/drawing/2014/main" id="{047852F1-F624-43A8-BDB1-35998C96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3911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55A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55A26"/>
                </a:solidFill>
                <a:latin typeface="Arial"/>
                <a:ea typeface="Arial"/>
                <a:cs typeface="Arial"/>
              </a:rPr>
              <a:t>FAIL-CLOSED GATE</a:t>
            </a:r>
          </a:p>
        </p:txBody>
      </p:sp>
      <p:sp>
        <p:nvSpPr>
          <p:cNvPr id="101" name="gate-note">
            <a:extLst xmlns:a="http://schemas.openxmlformats.org/drawingml/2006/main">
              <a:ext uri="{FF2B5EF4-FFF2-40B4-BE49-F238E27FC236}">
                <a16:creationId xmlns:a16="http://schemas.microsoft.com/office/drawing/2014/main" id="{A4455F39-086B-4748-900B-20014036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638800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171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171B"/>
                </a:solidFill>
                <a:latin typeface="Arial"/>
                <a:ea typeface="Arial"/>
                <a:cs typeface="Arial"/>
              </a:rPr>
              <a:t>Missing obligation → INCONCLUSIVE</a:t>
            </a:r>
          </a:p>
        </p:txBody>
      </p:sp>
      <p:sp>
        <p:nvSpPr>
          <p:cNvPr id="102" name="footer">
            <a:extLst xmlns:a="http://schemas.openxmlformats.org/drawingml/2006/main">
              <a:ext uri="{FF2B5EF4-FFF2-40B4-BE49-F238E27FC236}">
                <a16:creationId xmlns:a16="http://schemas.microsoft.com/office/drawing/2014/main" id="{F0E7DA32-722C-4139-9AC3-D7020444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15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C6370"/>
                </a:solidFill>
                <a:latin typeface="Arial"/>
                <a:ea typeface="Arial"/>
                <a:cs typeface="Arial"/>
              </a:rPr>
              <a:t>Bounded scholarly reconnaissance · not a novelty certificate or legal opinion</a:t>
            </a:r>
          </a:p>
        </p:txBody>
      </p:sp>
    </p:spTree>
    <p:extLst>
      <p:ext uri="{BB962C8B-B14F-4D97-AF65-F5344CB8AC3E}">
        <p14:creationId xmlns:p14="http://schemas.microsoft.com/office/powerpoint/2010/main" val="3615565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2026-08-27T17:37:18.3700000Z</dcterms:created>
  <dcterms:modified xsi:type="dcterms:W3CDTF">2026-08-27T17:37:18.3700000Z</dcterms:modified>
</coreProperties>
</file>